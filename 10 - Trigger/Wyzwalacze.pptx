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97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modSld">
      <pc:chgData name="Przemyslaw Starosta" userId="45f988447864b3e6" providerId="LiveId" clId="{F03EAEFD-908B-4458-9CFE-E641CAF539F5}" dt="2026-02-03T11:17:31.838" v="2" actId="113"/>
      <pc:docMkLst>
        <pc:docMk/>
      </pc:docMkLst>
      <pc:sldChg chg="modSp mod">
        <pc:chgData name="Przemyslaw Starosta" userId="45f988447864b3e6" providerId="LiveId" clId="{F03EAEFD-908B-4458-9CFE-E641CAF539F5}" dt="2026-02-03T11:17:31.838" v="2" actId="113"/>
        <pc:sldMkLst>
          <pc:docMk/>
          <pc:sldMk cId="1378925102" sldId="263"/>
        </pc:sldMkLst>
        <pc:spChg chg="mod">
          <ac:chgData name="Przemyslaw Starosta" userId="45f988447864b3e6" providerId="LiveId" clId="{F03EAEFD-908B-4458-9CFE-E641CAF539F5}" dt="2026-02-03T11:17:31.838" v="2" actId="113"/>
          <ac:spMkLst>
            <pc:docMk/>
            <pc:sldMk cId="1378925102" sldId="263"/>
            <ac:spMk id="3" creationId="{AD8E9BBF-A55D-4C50-9C86-D226AA6FCB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2C04C6-72B9-4B2D-832F-6C1420567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Wyzwalacze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7C6B3B6-AFB0-45AE-8BA8-96E9298EE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err="1"/>
              <a:t>PostgreSQL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29494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Struktura PL/</a:t>
            </a:r>
            <a:r>
              <a:rPr lang="pl-PL" dirty="0" err="1"/>
              <a:t>pgSQL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r>
              <a:rPr lang="pl-PL" dirty="0"/>
              <a:t>PL/</a:t>
            </a:r>
            <a:r>
              <a:rPr lang="pl-PL" dirty="0" err="1"/>
              <a:t>pgSQL</a:t>
            </a:r>
            <a:r>
              <a:rPr lang="pl-PL" dirty="0"/>
              <a:t> może być używany do definiowania funkcji wyzwalających zmiany danych lub zdarzenia bazy danych. </a:t>
            </a:r>
          </a:p>
          <a:p>
            <a:r>
              <a:rPr lang="pl-PL" dirty="0"/>
              <a:t>Funkcja wyzwalająca jest tworzona za pomocą polecenia CREATE FUNCTION, deklarując ją jako funkcję bez argumentów i typem zwracanym trigger (dla wyzwalaczy zmian danych) lub </a:t>
            </a:r>
            <a:r>
              <a:rPr lang="pl-PL" dirty="0" err="1"/>
              <a:t>event_trigger</a:t>
            </a:r>
            <a:r>
              <a:rPr lang="pl-PL" dirty="0"/>
              <a:t> (dla wyzwalaczy zdarzeń bazy danych). </a:t>
            </a:r>
          </a:p>
          <a:p>
            <a:r>
              <a:rPr lang="pl-PL" dirty="0"/>
              <a:t>Specjalne zmienne lokalne o nazwie </a:t>
            </a:r>
            <a:r>
              <a:rPr lang="pl-PL" b="1" dirty="0" err="1"/>
              <a:t>TG_something</a:t>
            </a:r>
            <a:r>
              <a:rPr lang="pl-PL" b="1" dirty="0"/>
              <a:t> </a:t>
            </a:r>
            <a:r>
              <a:rPr lang="pl-PL" dirty="0"/>
              <a:t>są automatycznie definiowane w celu opisania warunku, który wyzwolił wywołanie.</a:t>
            </a:r>
          </a:p>
        </p:txBody>
      </p:sp>
    </p:spTree>
    <p:extLst>
      <p:ext uri="{BB962C8B-B14F-4D97-AF65-F5344CB8AC3E}">
        <p14:creationId xmlns:p14="http://schemas.microsoft.com/office/powerpoint/2010/main" val="427814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Wyzwalacze zmian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r>
              <a:rPr lang="pl-PL" dirty="0"/>
              <a:t>Wyzwalacz zmiany danych jest </a:t>
            </a:r>
            <a:r>
              <a:rPr lang="pl-PL" b="1" dirty="0"/>
              <a:t>deklarowany jako funkcja bez argumentów i z typem zwracanym trigger. </a:t>
            </a:r>
          </a:p>
          <a:p>
            <a:r>
              <a:rPr lang="pl-PL" dirty="0"/>
              <a:t>Należy pamiętać, że funkcja musi być zadeklarowana bez argumentów, nawet jeśli oczekuje otrzymania argumentów określonych w CREATE TRIGGER - takie argumenty są przekazywane przez TG_ARGV</a:t>
            </a:r>
          </a:p>
          <a:p>
            <a:r>
              <a:rPr lang="pl-PL" dirty="0"/>
              <a:t>Gdy funkcja PL/</a:t>
            </a:r>
            <a:r>
              <a:rPr lang="pl-PL" dirty="0" err="1"/>
              <a:t>pgSQL</a:t>
            </a:r>
            <a:r>
              <a:rPr lang="pl-PL" dirty="0"/>
              <a:t> jest wywoływana jako wyzwalacz, kilka specjalnych zmiennych jest tworzonych automatycznie w bloku najwyższego poziomu. </a:t>
            </a:r>
          </a:p>
        </p:txBody>
      </p:sp>
      <p:sp>
        <p:nvSpPr>
          <p:cNvPr id="4" name="Strzałka: w prawo 3">
            <a:extLst>
              <a:ext uri="{FF2B5EF4-FFF2-40B4-BE49-F238E27FC236}">
                <a16:creationId xmlns:a16="http://schemas.microsoft.com/office/drawing/2014/main" id="{658A9164-6B87-241E-F025-2297FEB7B349}"/>
              </a:ext>
            </a:extLst>
          </p:cNvPr>
          <p:cNvSpPr/>
          <p:nvPr/>
        </p:nvSpPr>
        <p:spPr>
          <a:xfrm>
            <a:off x="8430768" y="5330952"/>
            <a:ext cx="219456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8925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07" y="1128408"/>
            <a:ext cx="2947482" cy="4601183"/>
          </a:xfrm>
        </p:spPr>
        <p:txBody>
          <a:bodyPr/>
          <a:lstStyle/>
          <a:p>
            <a:r>
              <a:rPr lang="pl-PL" dirty="0"/>
              <a:t>Wyzwalacze zmian danych</a:t>
            </a:r>
          </a:p>
        </p:txBody>
      </p:sp>
      <p:graphicFrame>
        <p:nvGraphicFramePr>
          <p:cNvPr id="10" name="Symbol zastępczy zawartości 9">
            <a:extLst>
              <a:ext uri="{FF2B5EF4-FFF2-40B4-BE49-F238E27FC236}">
                <a16:creationId xmlns:a16="http://schemas.microsoft.com/office/drawing/2014/main" id="{503F067A-4D04-864C-B04F-BDA64D1F5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173744"/>
              </p:ext>
            </p:extLst>
          </p:nvPr>
        </p:nvGraphicFramePr>
        <p:xfrm>
          <a:off x="3868738" y="863600"/>
          <a:ext cx="7315200" cy="474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030">
                  <a:extLst>
                    <a:ext uri="{9D8B030D-6E8A-4147-A177-3AD203B41FA5}">
                      <a16:colId xmlns:a16="http://schemas.microsoft.com/office/drawing/2014/main" val="1146179053"/>
                    </a:ext>
                  </a:extLst>
                </a:gridCol>
                <a:gridCol w="5039170">
                  <a:extLst>
                    <a:ext uri="{9D8B030D-6E8A-4147-A177-3AD203B41FA5}">
                      <a16:colId xmlns:a16="http://schemas.microsoft.com/office/drawing/2014/main" val="1574295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Nazwa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526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Typ danych RECORD; zmienna przechowująca nowy wiersz bazy danych dla operacji INSERT/UPDATE w wyzwalaczach na poziomie wiersza. Ta zmienna ma wartość </a:t>
                      </a:r>
                      <a:r>
                        <a:rPr lang="pl-PL" sz="1100" dirty="0" err="1"/>
                        <a:t>null</a:t>
                      </a:r>
                      <a:r>
                        <a:rPr lang="pl-PL" sz="1100" dirty="0"/>
                        <a:t> w wyzwalaczach na poziomie instrukcji i dla operacji DELETE.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844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Typ danych RECORD; zmienna przechowująca stary wiersz bazy danych dla operacji UPDATE/DELETE w wyzwalaczach na poziomie wiersza. Ta zmienna ma wartość </a:t>
                      </a:r>
                      <a:r>
                        <a:rPr lang="pl-PL" sz="1100" dirty="0" err="1"/>
                        <a:t>null</a:t>
                      </a:r>
                      <a:r>
                        <a:rPr lang="pl-PL" sz="1100" dirty="0"/>
                        <a:t> w wyzwalaczach na poziomie instrukcji i dla operacji INSERT.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430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TG_NAME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Nazwa typu danych; zmienna zawierająca nazwę faktycznie uruchomionego </a:t>
                      </a:r>
                      <a:r>
                        <a:rPr lang="pl-PL" sz="1100" dirty="0" err="1"/>
                        <a:t>trigera</a:t>
                      </a:r>
                      <a:r>
                        <a:rPr lang="pl-PL" sz="11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0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TG_WHEN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Typ danych tekst; ciąg BEFORE, AFTER lub INSTEAD OF, w zależności od definicji wyzwalacza.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1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TG_LEVEL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Typ danych tekst; ciąg znaków ROW lub STATEMENT w zależności od definicji wyzwalacza.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36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TG_OP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Typ danych tekst; ciąg znaków INSERT, UPDATE, DELETE lub TRUNCATE informujący, dla której operacji wyzwalacz został uruchomiony.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921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TG_RELID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Typ danych </a:t>
                      </a:r>
                      <a:r>
                        <a:rPr lang="pl-PL" sz="1100" dirty="0" err="1"/>
                        <a:t>oid</a:t>
                      </a:r>
                      <a:r>
                        <a:rPr lang="pl-PL" sz="1100" dirty="0"/>
                        <a:t>; identyfikator obiektu tabeli, który spowodował wywołanie </a:t>
                      </a:r>
                      <a:r>
                        <a:rPr lang="pl-PL" sz="1100" dirty="0" err="1"/>
                        <a:t>trigera</a:t>
                      </a:r>
                      <a:r>
                        <a:rPr lang="pl-PL" sz="11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02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TG_TABLE_NAME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Nazwa typu danych; nazwa tabeli, która spowodowała wywołanie </a:t>
                      </a:r>
                      <a:r>
                        <a:rPr lang="pl-PL" sz="1100" dirty="0" err="1"/>
                        <a:t>trigera</a:t>
                      </a:r>
                      <a:r>
                        <a:rPr lang="pl-PL" sz="11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1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TG_TABLE_SCHEMA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Nazwa typu danych; nazwa schematu tabeli, która spowodowała wywołanie </a:t>
                      </a:r>
                      <a:r>
                        <a:rPr lang="pl-PL" sz="1100" dirty="0" err="1"/>
                        <a:t>trigera</a:t>
                      </a:r>
                      <a:r>
                        <a:rPr lang="pl-PL" sz="11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635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TG_NARGS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Typ danych </a:t>
                      </a:r>
                      <a:r>
                        <a:rPr lang="pl-PL" sz="1100" dirty="0" err="1"/>
                        <a:t>integer</a:t>
                      </a:r>
                      <a:r>
                        <a:rPr lang="pl-PL" sz="1100" dirty="0"/>
                        <a:t>; liczba argumentów przekazanych do funkcji </a:t>
                      </a:r>
                      <a:r>
                        <a:rPr lang="pl-PL" sz="1100" dirty="0" err="1"/>
                        <a:t>triggera</a:t>
                      </a:r>
                      <a:r>
                        <a:rPr lang="pl-PL" sz="1100" dirty="0"/>
                        <a:t> w instrukcji CREATE TRIGGER.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46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15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Wyzwalacze zmian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 fontScale="85000" lnSpcReduction="10000"/>
          </a:bodyPr>
          <a:lstStyle/>
          <a:p>
            <a:r>
              <a:rPr lang="pl-PL" dirty="0"/>
              <a:t>Wyzwalacze na poziomie wiersza uruchamiane BEFORE mogą zwracać wartość </a:t>
            </a:r>
            <a:r>
              <a:rPr lang="pl-PL" dirty="0" err="1"/>
              <a:t>null</a:t>
            </a:r>
            <a:r>
              <a:rPr lang="pl-PL" dirty="0"/>
              <a:t>, aby zasygnalizować pominięcie reszty operacji dla tego wiersza (tj. kolejne wyzwalacze nie są uruchamiane, a operacja INSERT/UPDATE/DELETE nie jest wykonywana dla tego wiersza). </a:t>
            </a:r>
          </a:p>
          <a:p>
            <a:r>
              <a:rPr lang="pl-PL" dirty="0"/>
              <a:t>Jeśli zwrócona zostanie wartość inna niż </a:t>
            </a:r>
            <a:r>
              <a:rPr lang="pl-PL" dirty="0" err="1"/>
              <a:t>null</a:t>
            </a:r>
            <a:r>
              <a:rPr lang="pl-PL" dirty="0"/>
              <a:t>, operacja będzie kontynuowana z tą wartością wiersza. </a:t>
            </a:r>
          </a:p>
          <a:p>
            <a:r>
              <a:rPr lang="pl-PL" dirty="0"/>
              <a:t>Zwrócenie wartości wiersza innej niż oryginalna wartość NEW zmienia wiersz, który zostanie wstawiony lub zaktualizowany. </a:t>
            </a:r>
          </a:p>
          <a:p>
            <a:r>
              <a:rPr lang="pl-PL" dirty="0"/>
              <a:t>Tak więc, jeśli funkcja wyzwalająca chce, aby akcja wyzwalająca powiodła się normalnie bez zmiany wartości wiersza, NEW (lub wartość jej równa) musi zostać zwrócona.</a:t>
            </a:r>
          </a:p>
          <a:p>
            <a:r>
              <a:rPr lang="pl-PL" dirty="0"/>
              <a:t> Aby zmienić wiersz, który ma zostać zapisany, możliwe jest zastąpienie pojedynczych wartości bezpośrednio w NEW i zwrócenie zmodyfikowanego NEW lub utworzenie kompletnego nowego rekordu/wiersza do zwrócenia. </a:t>
            </a:r>
          </a:p>
          <a:p>
            <a:r>
              <a:rPr lang="pl-PL" dirty="0"/>
              <a:t>W przypadku wyzwalacza BEFORE  DELETE, zwrócona wartość nie ma bezpośredniego wpływu, ale musi być różna od zera, aby umożliwić kontynuowanie akcji wyzwalacza. </a:t>
            </a:r>
          </a:p>
          <a:p>
            <a:r>
              <a:rPr lang="pl-PL" dirty="0"/>
              <a:t>Należy pamiętać, że NEW jest wartością </a:t>
            </a:r>
            <a:r>
              <a:rPr lang="pl-PL" dirty="0" err="1"/>
              <a:t>null</a:t>
            </a:r>
            <a:r>
              <a:rPr lang="pl-PL" dirty="0"/>
              <a:t> w wyzwalaczach DELETE</a:t>
            </a:r>
          </a:p>
        </p:txBody>
      </p:sp>
    </p:spTree>
    <p:extLst>
      <p:ext uri="{BB962C8B-B14F-4D97-AF65-F5344CB8AC3E}">
        <p14:creationId xmlns:p14="http://schemas.microsoft.com/office/powerpoint/2010/main" val="3469791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Wyzwalacze zmian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r>
              <a:rPr lang="pl-PL" dirty="0"/>
              <a:t>Wyzwalacze INSTEAD OF (które są zawsze wyzwalaczami na poziomie wiersza i </a:t>
            </a:r>
            <a:r>
              <a:rPr lang="pl-PL" b="1" dirty="0"/>
              <a:t>mogą być używane tylko w widokach) </a:t>
            </a:r>
            <a:r>
              <a:rPr lang="pl-PL" dirty="0"/>
              <a:t>mogą zwracać wartość </a:t>
            </a:r>
            <a:r>
              <a:rPr lang="pl-PL" dirty="0" err="1"/>
              <a:t>null</a:t>
            </a:r>
            <a:r>
              <a:rPr lang="pl-PL" dirty="0"/>
              <a:t>, aby zasygnalizować, że nie wykonały żadnych aktualizacji, a reszta operacji dla tego wiersza powinna zostać pominięta </a:t>
            </a:r>
          </a:p>
          <a:p>
            <a:r>
              <a:rPr lang="pl-PL" dirty="0"/>
              <a:t>W przeciwnym razie powinna zostać zwrócona wartość inna niż </a:t>
            </a:r>
            <a:r>
              <a:rPr lang="pl-PL" dirty="0" err="1"/>
              <a:t>null</a:t>
            </a:r>
            <a:r>
              <a:rPr lang="pl-PL" dirty="0"/>
              <a:t>, aby zasygnalizować, że wyzwalacz wykonał żądaną operację. </a:t>
            </a:r>
          </a:p>
          <a:p>
            <a:r>
              <a:rPr lang="pl-PL" dirty="0"/>
              <a:t>W przypadku operacji INSERT i UPDATE wartością zwracaną powinna być wartość NEW, którą funkcja </a:t>
            </a:r>
            <a:r>
              <a:rPr lang="pl-PL" dirty="0" err="1"/>
              <a:t>trigera</a:t>
            </a:r>
            <a:r>
              <a:rPr lang="pl-PL" dirty="0"/>
              <a:t> może zmodyfikować w celu obsługi INSERT RETURNING i UPDATE RETURNING</a:t>
            </a:r>
          </a:p>
          <a:p>
            <a:r>
              <a:rPr lang="pl-PL" dirty="0"/>
              <a:t>W przypadku operacji DELETE wartością zwracaną powinna być OLD.</a:t>
            </a:r>
          </a:p>
        </p:txBody>
      </p:sp>
    </p:spTree>
    <p:extLst>
      <p:ext uri="{BB962C8B-B14F-4D97-AF65-F5344CB8AC3E}">
        <p14:creationId xmlns:p14="http://schemas.microsoft.com/office/powerpoint/2010/main" val="2734873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Wyzwalacze zmian danych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29B74DD-4128-755D-D6CA-7AF3A1372AC5}"/>
              </a:ext>
            </a:extLst>
          </p:cNvPr>
          <p:cNvSpPr txBox="1"/>
          <p:nvPr/>
        </p:nvSpPr>
        <p:spPr>
          <a:xfrm>
            <a:off x="3954780" y="275160"/>
            <a:ext cx="6099048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drop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table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dirty="0" err="1">
                <a:solidFill>
                  <a:srgbClr val="8E00C6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</a:b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TABLE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dirty="0" err="1">
                <a:solidFill>
                  <a:srgbClr val="8E00C6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(</a:t>
            </a:r>
          </a:p>
          <a:p>
            <a:pPr lvl="3"/>
            <a:r>
              <a:rPr lang="pl-PL" sz="1100" dirty="0" err="1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empname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text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</a:p>
          <a:p>
            <a:pPr lvl="3"/>
            <a:r>
              <a:rPr lang="pl-PL" sz="1100" dirty="0" err="1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salary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integer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3"/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drop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function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emp_stamp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</a:b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or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replace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FUNCTION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emp_stamp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()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RETURNS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trigger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AS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$$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BEGIN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.empname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IS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THEN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RAISE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EXCEPTION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</a:t>
            </a:r>
            <a:r>
              <a:rPr lang="pl-PL" sz="1100" b="1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empname</a:t>
            </a:r>
            <a:r>
              <a:rPr lang="pl-PL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musi być różne od </a:t>
            </a:r>
            <a:r>
              <a:rPr lang="pl-PL" sz="1100" b="1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pl-PL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</a:p>
          <a:p>
            <a:pPr lvl="1"/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.salary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IS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THEN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RAISE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EXCEPTION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'% nie można mieć płacy = </a:t>
            </a:r>
            <a:r>
              <a:rPr lang="pl-PL" sz="1100" b="1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pl-PL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.empname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</a:b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.salary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&lt; </a:t>
            </a:r>
            <a:r>
              <a:rPr lang="pl-PL" sz="11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THEN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RAISE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EXCEPTION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'% nie można mieć ujemnej płacy'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.empname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pl-PL" sz="1100" b="1" dirty="0">
              <a:solidFill>
                <a:srgbClr val="8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$$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LANGUAGE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plpgsql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</a:b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drop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trigger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emp_stamp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</a:b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or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replace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TRIGGER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emp_stamp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BEFORE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INSERT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OR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UPDATE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ON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EACH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ROW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EXECUTE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FUNCTION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l-PL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emp_stamp</a:t>
            </a:r>
            <a:r>
              <a:rPr lang="pl-PL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()</a:t>
            </a:r>
            <a:r>
              <a:rPr lang="pl-PL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2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Audyt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29B74DD-4128-755D-D6CA-7AF3A1372AC5}"/>
              </a:ext>
            </a:extLst>
          </p:cNvPr>
          <p:cNvSpPr txBox="1"/>
          <p:nvPr/>
        </p:nvSpPr>
        <p:spPr>
          <a:xfrm>
            <a:off x="3918204" y="595200"/>
            <a:ext cx="6099048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TABLE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8E00C6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empname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text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NOT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salary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integer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</a:b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TABLE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8E00C6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emp_audit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operation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NOT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stamp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timestamp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NOT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userid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text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NOT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empname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text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NOT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salary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integer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REPLACE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FUNCTION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process_emp_audit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RETURNS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TRIGGER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$$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BEGIN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(TG_OP = </a:t>
            </a:r>
            <a:r>
              <a:rPr lang="en-US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'DELETE'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THEN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INSERT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INTO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emp_audit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'D'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now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(), </a:t>
            </a:r>
            <a:r>
              <a:rPr lang="en-US" sz="1100" b="1" dirty="0" err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current_user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OLD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.*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ELSIF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(TG_OP = </a:t>
            </a:r>
            <a:r>
              <a:rPr lang="en-US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'UPDATE'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THEN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INSERT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INTO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emp_audit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'U'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now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(), </a:t>
            </a:r>
            <a:r>
              <a:rPr lang="en-US" sz="1100" b="1" dirty="0" err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current_user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.*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ELSIF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(TG_OP = </a:t>
            </a:r>
            <a:r>
              <a:rPr lang="en-US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'INSERT'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THEN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INSERT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INTO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emp_audit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'I'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now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(), </a:t>
            </a:r>
            <a:r>
              <a:rPr lang="en-US" sz="1100" b="1" dirty="0" err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current_user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.*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1"/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endParaRPr lang="pl-PL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$$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LANGUAGE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plpgsql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TRIGGER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emp_audit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AFTER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INSERT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UPDATE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DELETE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ON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emp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EACH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ROW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EXECUTE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FUNCTION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process_emp_audit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()</a:t>
            </a:r>
            <a:r>
              <a:rPr lang="en-US" sz="11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64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Wyzwalacze zdarzeń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2656333"/>
          </a:xfrm>
        </p:spPr>
        <p:txBody>
          <a:bodyPr>
            <a:normAutofit/>
          </a:bodyPr>
          <a:lstStyle/>
          <a:p>
            <a:r>
              <a:rPr lang="pl-PL" dirty="0"/>
              <a:t>PL/</a:t>
            </a:r>
            <a:r>
              <a:rPr lang="pl-PL" dirty="0" err="1"/>
              <a:t>pgSQL</a:t>
            </a:r>
            <a:r>
              <a:rPr lang="pl-PL" dirty="0"/>
              <a:t> może być używany do definiowania wyzwalaczy zdarzeń. </a:t>
            </a:r>
            <a:r>
              <a:rPr lang="pl-PL" dirty="0" err="1"/>
              <a:t>PostgreSQL</a:t>
            </a:r>
            <a:r>
              <a:rPr lang="pl-PL" dirty="0"/>
              <a:t> wymaga, aby funkcja, która ma być wywołana jako wyzwalacz zdarzenia, była zadeklarowana jako funkcja bez argumentów i typem zwracanym </a:t>
            </a:r>
            <a:r>
              <a:rPr lang="pl-PL" dirty="0" err="1"/>
              <a:t>event_trigger</a:t>
            </a:r>
            <a:r>
              <a:rPr lang="pl-PL" dirty="0"/>
              <a:t>.</a:t>
            </a:r>
          </a:p>
          <a:p>
            <a:pPr lvl="1"/>
            <a:r>
              <a:rPr lang="pl-PL" dirty="0"/>
              <a:t>TG_EVENT - Typ danych </a:t>
            </a:r>
            <a:r>
              <a:rPr lang="pl-PL" dirty="0" err="1"/>
              <a:t>text</a:t>
            </a:r>
            <a:r>
              <a:rPr lang="pl-PL" dirty="0"/>
              <a:t>; ciąg znaków reprezentujący zdarzenie, dla którego wyzwalacz jest uruchamiany.</a:t>
            </a:r>
          </a:p>
          <a:p>
            <a:pPr lvl="1"/>
            <a:r>
              <a:rPr lang="pl-PL" dirty="0"/>
              <a:t>TG_TAG - Typ danych </a:t>
            </a:r>
            <a:r>
              <a:rPr lang="pl-PL" dirty="0" err="1"/>
              <a:t>text</a:t>
            </a:r>
            <a:r>
              <a:rPr lang="pl-PL" dirty="0"/>
              <a:t>; zmienna zawierająca znacznik polecenia, dla którego wyzwalacz jest uruchamiany.</a:t>
            </a:r>
          </a:p>
          <a:p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636422A-2A9E-4B6D-B609-22D4C41A32FA}"/>
              </a:ext>
            </a:extLst>
          </p:cNvPr>
          <p:cNvSpPr txBox="1"/>
          <p:nvPr/>
        </p:nvSpPr>
        <p:spPr>
          <a:xfrm>
            <a:off x="4073652" y="3878824"/>
            <a:ext cx="60990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OR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REPLACE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trig_ddl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()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RETURNS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event_trigger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AS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$$</a:t>
            </a:r>
            <a:endParaRPr lang="en-U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RAISE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NOTICE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'</a:t>
            </a:r>
            <a:r>
              <a:rPr lang="pl-PL" sz="12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Opis</a:t>
            </a:r>
            <a:r>
              <a:rPr lang="en-US" sz="12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: % %'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tg_event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tg_tag</a:t>
            </a:r>
            <a:r>
              <a:rPr lang="en-US" sz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r>
              <a:rPr lang="en-US" sz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$$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LANGUAGE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plpgsql</a:t>
            </a:r>
            <a:r>
              <a:rPr lang="en-US" sz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EVENT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TRIGGER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trig_ddl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ON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ddl_command_start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EXECUTE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trig_ddl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()</a:t>
            </a:r>
            <a:r>
              <a:rPr lang="en-US" sz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523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64D55-E5EC-9FB3-6B59-9A673457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E08167-A7EF-5D95-4AF9-3E7DAB05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Wyzwalacze zdarzeń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92A73DE-D864-E678-A663-54CE51B9A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2656333"/>
          </a:xfrm>
        </p:spPr>
        <p:txBody>
          <a:bodyPr>
            <a:normAutofit/>
          </a:bodyPr>
          <a:lstStyle/>
          <a:p>
            <a:r>
              <a:rPr lang="pl-PL" dirty="0"/>
              <a:t>Najczęściej używane wartości dla EVENT w definicji event </a:t>
            </a:r>
            <a:r>
              <a:rPr lang="pl-PL" dirty="0" err="1"/>
              <a:t>triggera</a:t>
            </a:r>
            <a:r>
              <a:rPr lang="pl-PL" dirty="0"/>
              <a:t> to:</a:t>
            </a:r>
          </a:p>
          <a:p>
            <a:pPr lvl="1"/>
            <a:r>
              <a:rPr lang="pl-PL" b="1" dirty="0" err="1"/>
              <a:t>ddl_command_start</a:t>
            </a:r>
            <a:r>
              <a:rPr lang="pl-PL" b="1" dirty="0"/>
              <a:t> </a:t>
            </a:r>
            <a:r>
              <a:rPr lang="pl-PL" dirty="0"/>
              <a:t>– wywoływany przed rozpoczęciem polecenia DDL.</a:t>
            </a:r>
          </a:p>
          <a:p>
            <a:pPr lvl="1"/>
            <a:r>
              <a:rPr lang="pl-PL" b="1" dirty="0" err="1"/>
              <a:t>ddl_command_end</a:t>
            </a:r>
            <a:r>
              <a:rPr lang="pl-PL" b="1" dirty="0"/>
              <a:t> </a:t>
            </a:r>
            <a:r>
              <a:rPr lang="pl-PL" dirty="0"/>
              <a:t>– wywoływany po zakończeniu polecenia DDL.</a:t>
            </a:r>
          </a:p>
          <a:p>
            <a:pPr lvl="1"/>
            <a:r>
              <a:rPr lang="pl-PL" b="1" dirty="0" err="1"/>
              <a:t>sql_drop</a:t>
            </a:r>
            <a:r>
              <a:rPr lang="pl-PL" b="1" dirty="0"/>
              <a:t> </a:t>
            </a:r>
            <a:r>
              <a:rPr lang="pl-PL" dirty="0"/>
              <a:t>– wywoływany po usunięciu obiektu przez polecenie DDL (np. DROP TABLE).</a:t>
            </a:r>
          </a:p>
        </p:txBody>
      </p:sp>
    </p:spTree>
    <p:extLst>
      <p:ext uri="{BB962C8B-B14F-4D97-AF65-F5344CB8AC3E}">
        <p14:creationId xmlns:p14="http://schemas.microsoft.com/office/powerpoint/2010/main" val="1419963444"/>
      </p:ext>
    </p:extLst>
  </p:cSld>
  <p:clrMapOvr>
    <a:masterClrMapping/>
  </p:clrMapOvr>
</p:sld>
</file>

<file path=ppt/theme/theme1.xml><?xml version="1.0" encoding="utf-8"?>
<a:theme xmlns:a="http://schemas.openxmlformats.org/drawingml/2006/main" name="Ramka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TM03457475[[fn=Ramka]]</Template>
  <TotalTime>1884</TotalTime>
  <Words>1155</Words>
  <Application>Microsoft Office PowerPoint</Application>
  <PresentationFormat>Panoramiczny</PresentationFormat>
  <Paragraphs>123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Corbel</vt:lpstr>
      <vt:lpstr>Courier New</vt:lpstr>
      <vt:lpstr>Wingdings 2</vt:lpstr>
      <vt:lpstr>Ramka</vt:lpstr>
      <vt:lpstr>Wyzwalacze</vt:lpstr>
      <vt:lpstr>Struktura PL/pgSQL</vt:lpstr>
      <vt:lpstr>Wyzwalacze zmian danych</vt:lpstr>
      <vt:lpstr>Wyzwalacze zmian danych</vt:lpstr>
      <vt:lpstr>Wyzwalacze zmian danych</vt:lpstr>
      <vt:lpstr>Wyzwalacze zmian danych</vt:lpstr>
      <vt:lpstr>Wyzwalacze zmian danych</vt:lpstr>
      <vt:lpstr>Audyt</vt:lpstr>
      <vt:lpstr>Wyzwalacze zdarzeń</vt:lpstr>
      <vt:lpstr>Wyzwalacze zdarzeń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- PostgreSQL</dc:title>
  <dc:creator>Przemyslaw Starosta</dc:creator>
  <cp:lastModifiedBy>Przemyslaw Starosta</cp:lastModifiedBy>
  <cp:revision>1</cp:revision>
  <dcterms:created xsi:type="dcterms:W3CDTF">2022-01-27T16:58:23Z</dcterms:created>
  <dcterms:modified xsi:type="dcterms:W3CDTF">2026-02-03T11:17:36Z</dcterms:modified>
</cp:coreProperties>
</file>