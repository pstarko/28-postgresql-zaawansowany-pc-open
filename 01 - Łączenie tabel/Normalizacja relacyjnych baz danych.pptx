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9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E8E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8E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2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289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Normalizacja relacyjnych baz danych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 postaci nieznormalizowanej (UNF) do trzeciej postaci normalnej (3NF)</a:t>
            </a:r>
            <a:endParaRPr lang="en-US" sz="1600" dirty="0"/>
          </a:p>
        </p:txBody>
      </p:sp>
      <p:sp>
        <p:nvSpPr>
          <p:cNvPr id="4" name="lin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697480"/>
            <a:ext cx="1463040" cy="36576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co normalizować dane?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Normalizacja to proces porządkowania danych w tabelach tak, aby ograniczyć redundancję i wyeliminować anomalie.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Każdy fakt zapisany jest dokładnie raz, w jednym miejscu.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Relacje opisane są za pomocą kluczy głównych i obcych.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Kolejne postacie normalne (1NF, 2NF, 3NF) są zagnieżdżone: 3NF spełnia także 2NF i 1NF.</a:t>
            </a:r>
            <a:endParaRPr lang="en-US" sz="1400" dirty="0"/>
          </a:p>
        </p:txBody>
      </p:sp>
      <p:sp>
        <p:nvSpPr>
          <p:cNvPr id="4" name="kar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051560"/>
            <a:ext cx="3063240" cy="77724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ak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051560"/>
            <a:ext cx="64008" cy="77724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5779008" y="10515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Anomalia wstawiania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Nie można dodać produktu bez zamówienia.</a:t>
            </a:r>
            <a:endParaRPr lang="en-US" sz="1200" dirty="0"/>
          </a:p>
        </p:txBody>
      </p:sp>
      <p:sp>
        <p:nvSpPr>
          <p:cNvPr id="7" name="kar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965960"/>
            <a:ext cx="3063240" cy="77724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ak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965960"/>
            <a:ext cx="64008" cy="77724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5779008" y="19659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Anomalia usuwania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Usunięcie zamówienia kasuje dane klienta.</a:t>
            </a:r>
            <a:endParaRPr lang="en-US" sz="1200" dirty="0"/>
          </a:p>
        </p:txBody>
      </p:sp>
      <p:sp>
        <p:nvSpPr>
          <p:cNvPr id="10" name="kar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880360"/>
            <a:ext cx="3063240" cy="77724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ak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880360"/>
            <a:ext cx="64008" cy="77724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5779008" y="28803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Anomalia modyfikacji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Zmiana adresu wymaga edycji wielu wierszy.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Postać nieznormalizowana (UNF)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Tabela zawiera grupy powtarzalne i wartości wielokrotne w jednej komórce. Brak jednoznacznego klucza dla pozycji.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419381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Nr zam.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Klient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Adres klienta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Pozycje zamówienia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Nowak Sp. z o.o.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Kraków, ul. Długa 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 24" – 2 szt. × 800 zł; Klawiatura – 1 szt. × 120 zł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Kowalski S.A.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Gdańsk, ul. Morska 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 24" – 1 szt. × 800 zł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Nowak Sp. z o.o.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Kraków, ul. Długa 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Mysz – 3 szt. × 60 zł; Klawiatura – 2 szt. × 120 zł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977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Kolumna „Pozycje zamówienia” łamie zasadę atomowości, a dane klienta powtarzają się w wielu wierszach.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Dlaczego UNF jest problematyczna?</a:t>
            </a:r>
            <a:endParaRPr lang="en-US" sz="2500" dirty="0"/>
          </a:p>
        </p:txBody>
      </p:sp>
      <p:sp>
        <p:nvSpPr>
          <p:cNvPr id="3" name="ramk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ak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6400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04088" y="129844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Brak atomowości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Wartości wielokrotne w jednej komórce uniemożliwiają filtrowanie i sumowanie po produkcie.</a:t>
            </a:r>
            <a:endParaRPr lang="en-US" sz="1500" dirty="0"/>
          </a:p>
        </p:txBody>
      </p:sp>
      <p:sp>
        <p:nvSpPr>
          <p:cNvPr id="6" name="ramk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ak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6400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864608" y="129844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Redundancja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Adres klienta powtarza się przy każdym zamówieniu — rośnie ryzyko niespójności.</a:t>
            </a:r>
            <a:endParaRPr lang="en-US" sz="1500" dirty="0"/>
          </a:p>
        </p:txBody>
      </p:sp>
      <p:sp>
        <p:nvSpPr>
          <p:cNvPr id="9" name="ramk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ak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3977640" cy="6400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04088" y="299008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Brak klucza pozycji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Nie da się jednoznacznie wskazać pojedynczej pozycji zamówienia.</a:t>
            </a:r>
            <a:endParaRPr lang="en-US" sz="1500" dirty="0"/>
          </a:p>
        </p:txBody>
      </p:sp>
      <p:sp>
        <p:nvSpPr>
          <p:cNvPr id="12" name="ramk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78892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ak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788920"/>
            <a:ext cx="3977640" cy="6400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864608" y="299008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Trudne zapytania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Proste pytanie „ile sprzedano monitorów?” wymaga parsowania tekstu.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Pierwsza postać normalna (1NF)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Definicja</a:t>
            </a:r>
            <a:endParaRPr lang="en-US" sz="1350" dirty="0"/>
          </a:p>
          <a:p>
            <a:pPr marL="0" indent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Tabela jest w 1NF, gdy każda komórka zawiera jedną wartość atomową, nie ma grup powtarzalnych, a każdy wiersz jest jednoznacznie identyfikowany przez klucz główny.</a:t>
            </a:r>
            <a:endParaRPr lang="en-US" sz="1350" dirty="0"/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 to osiągnąć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Rozbij listy wartości na osobne wiersze.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Usuń kolumny typu Produkt1, Produkt2, Produkt3.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Wyznacz klucz główny — tu złożony: (Nr zam., ID produktu).</a:t>
            </a:r>
            <a:endParaRPr lang="en-US" sz="1350" dirty="0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1051560"/>
            <a:ext cx="2834640" cy="301752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035040" y="12801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Zapamiętaj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1NF porządkuje strukturę wierszy i kolumn — nie usuwa jeszcze redundancji danych.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Przykład: UNF → 1NF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Każda pozycja zamówienia trafia do osobnego wiersza; klucz główny: (Nr zam., ID prod.).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953151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Nr zam.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Klient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Adres klienta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prod.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Produkt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Ilość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Cena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Nowak Sp. z o.o.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Kraków, ul. Długa 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 24"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Nowak Sp. z o.o.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Kraków, ul. Długa 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Klawiatura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Kowalski S.A.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Gdańsk, ul. Morska 12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 24"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Nowak Sp. z o.o.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Kraków, ul. Długa 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Mysz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Nowak Sp. z o.o.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Kraków, ul. Długa 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Klawiatura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Dane są już atomowe, ale klient i jego adres nadal powtarzają się w wielu wierszach — to zadanie dla 2NF i 3NF.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Klucze i zależności funkcyjne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Zależność funkcyjna A → B oznacza: znając wartość A, znamy jednoznacznie wartość B.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Zależność pełna — atrybut zależy od całego klucza złożonego.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Zależność częściowa — atrybut zależy tylko od części klucza (problem 2NF).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Zależność przechodnia — atrybut zależy od innego atrybutu niekluczowego (problem 3NF).</a:t>
            </a:r>
            <a:endParaRPr lang="en-US" sz="1350" dirty="0"/>
          </a:p>
        </p:txBody>
      </p:sp>
      <p:sp>
        <p:nvSpPr>
          <p:cNvPr id="4" name="kar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1051560"/>
            <a:ext cx="3200400" cy="82296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623560" y="1051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(Nr zam., ID prod.) → Ilość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zależność pełna — poprawna</a:t>
            </a:r>
            <a:endParaRPr lang="en-US" sz="1250" dirty="0"/>
          </a:p>
        </p:txBody>
      </p:sp>
      <p:sp>
        <p:nvSpPr>
          <p:cNvPr id="6" name="kar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2011680"/>
            <a:ext cx="3200400" cy="82296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623560" y="2011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prod. → Produkt, Cena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zależność częściowa — łamie 2NF</a:t>
            </a:r>
            <a:endParaRPr lang="en-US" sz="1250" dirty="0"/>
          </a:p>
        </p:txBody>
      </p:sp>
      <p:sp>
        <p:nvSpPr>
          <p:cNvPr id="8" name="kar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2971800"/>
            <a:ext cx="3200400" cy="82296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5623560" y="2971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Nr zam. → Klient → Adres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zależność przechodnia — łamie 3NF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Druga postać normalna (2NF)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Definicja</a:t>
            </a:r>
            <a:endParaRPr lang="en-US" sz="1350" dirty="0"/>
          </a:p>
          <a:p>
            <a:pPr marL="0" indent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Tabela jest w 2NF, gdy jest w 1NF i każdy atrybut niekluczowy zależy od całego klucza głównego, a nie od jego części.</a:t>
            </a:r>
            <a:endParaRPr lang="en-US" sz="1350" dirty="0"/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Kiedy problem w ogóle występuje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Tylko przy kluczu złożonym — przy kluczu jednoatrybutowym 1NF oznacza już 2NF.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Rozwiązanie: wydziel atrybuty zależne częściowo do osobnej tabeli z własnym kluczem.</a:t>
            </a:r>
            <a:endParaRPr lang="en-US" sz="1350" dirty="0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1051560"/>
            <a:ext cx="2834640" cy="283464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035040" y="12801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naszym przykładzie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Produkt i Cena zależą tylko od ID prod., czyli od części klucza (Nr zam., ID prod.) — trzeba je wydzielić.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Przykład: 1NF → 2NF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Zamówienia (Nr zam.)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446820"/>
              </p:ext>
            </p:extLst>
          </p:nvPr>
        </p:nvGraphicFramePr>
        <p:xfrm>
          <a:off x="36576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Nr zam.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Klient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Adres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Nowak Sp. z o.o.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Kraków, ul. Długa 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Kowalski S.A.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Gdańsk, ul. Morska 12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2026-03-09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Nowak Sp. z o.o.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Kraków, ul. Długa 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09160" y="960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Produkty (ID prod.)</a:t>
            </a:r>
            <a:endParaRPr lang="en-US" sz="12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237810"/>
              </p:ext>
            </p:extLst>
          </p:nvPr>
        </p:nvGraphicFramePr>
        <p:xfrm>
          <a:off x="4709160" y="1280160"/>
          <a:ext cx="4069080" cy="9144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prod.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Produkt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Cena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 24"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Klawiatura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Mysz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2971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Pozycje zamówienia (Nr zam. + ID prod.)</a:t>
            </a:r>
            <a:endParaRPr lang="en-US" sz="125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182988"/>
              </p:ext>
            </p:extLst>
          </p:nvPr>
        </p:nvGraphicFramePr>
        <p:xfrm>
          <a:off x="365760" y="329184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Nr zam.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prod.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Ilość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291840"/>
            <a:ext cx="4069080" cy="146304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5"/>
          <p:cNvSpPr/>
          <p:nvPr/>
        </p:nvSpPr>
        <p:spPr>
          <a:xfrm>
            <a:off x="4937760" y="347472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Efekt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Cena produktu zapisana jest raz. Pozostaje jednak zależność przechodnia: Nr zam. → Klient → Adres.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Trzecia postać normalna (3NF)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Definicja</a:t>
            </a:r>
            <a:endParaRPr lang="en-US" sz="1350" dirty="0"/>
          </a:p>
          <a:p>
            <a:pPr marL="0" indent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Tabela jest w 3NF, gdy jest w 2NF i żaden atrybut niekluczowy nie zależy od innego atrybutu niekluczowego (brak zależności przechodnich).</a:t>
            </a:r>
            <a:endParaRPr lang="en-US" sz="1350" dirty="0"/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 to osiągnąć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Znajdź atrybuty opisujące inny atrybut niekluczowy (np. dane klienta przy zamówieniu).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Przenieś je do własnej tabeli i połącz kluczem obcym.</a:t>
            </a:r>
            <a:endParaRPr lang="en-US" sz="1350" dirty="0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1051560"/>
            <a:ext cx="2834640" cy="283464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035040" y="12801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Reguła praktyczna</a:t>
            </a:r>
            <a:endParaRPr lang="en-US" sz="1400" dirty="0"/>
          </a:p>
          <a:p>
            <a:pPr marL="0" indent="0">
              <a:buNone/>
            </a:pPr>
            <a:r>
              <a:rPr lang="en-US" sz="1250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Każdy atrybut zależy od klucza, całego klucza i tylko od klucza.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Przykład: 2NF → 3NF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Dane klienta wędrują do własnej tabeli; w zamówieniu zostaje klucz obcy ID klienta.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Klienci (ID klienta)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0410"/>
              </p:ext>
            </p:extLst>
          </p:nvPr>
        </p:nvGraphicFramePr>
        <p:xfrm>
          <a:off x="365760" y="164592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kl.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Klient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Adres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Nowak Sp. z o.o.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Kraków, ul. Długa 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Kowalski S.A.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Gdańsk, ul. Morska 12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Zamówienia (Nr zam.)</a:t>
            </a:r>
            <a:endParaRPr lang="en-US" sz="12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146740"/>
              </p:ext>
            </p:extLst>
          </p:nvPr>
        </p:nvGraphicFramePr>
        <p:xfrm>
          <a:off x="4709160" y="1645920"/>
          <a:ext cx="406908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Nr zam.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kl.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2026-03-09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Produkty (ID prod.)</a:t>
            </a:r>
            <a:endParaRPr lang="en-US" sz="125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188981"/>
              </p:ext>
            </p:extLst>
          </p:nvPr>
        </p:nvGraphicFramePr>
        <p:xfrm>
          <a:off x="365760" y="3566160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prod.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Produkt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Cena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 24"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Klawiatura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709160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Pozycje zamówienia</a:t>
            </a:r>
            <a:endParaRPr lang="en-US" sz="1250" dirty="0"/>
          </a:p>
        </p:txBody>
      </p:sp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007050"/>
              </p:ext>
            </p:extLst>
          </p:nvPr>
        </p:nvGraphicFramePr>
        <p:xfrm>
          <a:off x="4709160" y="3566160"/>
          <a:ext cx="406908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Nr zam.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prod.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Ilość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Podsumowanie: droga od UNF do 3NF</a:t>
            </a:r>
            <a:endParaRPr lang="en-US" sz="2500" dirty="0"/>
          </a:p>
        </p:txBody>
      </p:sp>
      <p:sp>
        <p:nvSpPr>
          <p:cNvPr id="3" name="karta etap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1234440"/>
            <a:ext cx="1965960" cy="2103120"/>
          </a:xfrm>
          <a:prstGeom prst="rect">
            <a:avLst/>
          </a:prstGeom>
          <a:solidFill>
            <a:srgbClr val="DCE1E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nagłówek kar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1234440"/>
            <a:ext cx="1965960" cy="411480"/>
          </a:xfrm>
          <a:prstGeom prst="rect">
            <a:avLst/>
          </a:prstGeom>
          <a:solidFill>
            <a:srgbClr val="5B647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Grupy powtarzalne, wartości wielokrotne, silna redundancja.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13432" y="2057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karta etap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32888" y="1234440"/>
            <a:ext cx="1965960" cy="210312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nagłówek kar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32888" y="1234440"/>
            <a:ext cx="1965960" cy="41148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2532888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1NF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1783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Wartości atomowe, jeden fakt w wierszu, wyznaczony klucz główny.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0" y="2057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karta etap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234440"/>
            <a:ext cx="1965960" cy="210312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nagłówek kar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234440"/>
            <a:ext cx="1965960" cy="41148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700016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2NF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64608" y="1783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Brak zależności częściowych — dane produktu w osobnej tabeli.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47688" y="2057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karta etap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1234440"/>
            <a:ext cx="1965960" cy="210312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nagłówek kar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1234440"/>
            <a:ext cx="1965960" cy="41148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6867144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3NF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31736" y="1783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Brak zależności przechodnich — dane klienta w osobnej tabeli.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Efekt końcowy: brak powtórzeń danych, spójne modyfikacje i prostsze zapytania — przy nieco większej liczbie złączeń.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1127</Words>
  <Application>Microsoft Office PowerPoint</Application>
  <PresentationFormat>Pokaz na ekranie (16:9)</PresentationFormat>
  <Paragraphs>248</Paragraphs>
  <Slides>12</Slides>
  <Notes>12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Normalizacja relacyjnych baz danych</vt:lpstr>
      <vt:lpstr>Po co normalizować dane?</vt:lpstr>
      <vt:lpstr>Postać nieznormalizowana (UNF)</vt:lpstr>
      <vt:lpstr>Dlaczego UNF jest problematyczna?</vt:lpstr>
      <vt:lpstr>Pierwsza postać normalna (1NF)</vt:lpstr>
      <vt:lpstr>Przykład: UNF → 1NF</vt:lpstr>
      <vt:lpstr>Klucze i zależności funkcyjne</vt:lpstr>
      <vt:lpstr>Druga postać normalna (2NF)</vt:lpstr>
      <vt:lpstr>Przykład: 1NF → 2NF</vt:lpstr>
      <vt:lpstr>Trzecia postać normalna (3NF)</vt:lpstr>
      <vt:lpstr>Przykład: 2NF → 3NF</vt:lpstr>
      <vt:lpstr>Podsumowanie: droga od UNF do 3NF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Przemysław Starosta</dc:creator>
  <cp:lastModifiedBy>Przemysław Starosta</cp:lastModifiedBy>
  <cp:revision>2</cp:revision>
  <dcterms:created xsi:type="dcterms:W3CDTF">2026-09-16T05:23:45Z</dcterms:created>
  <dcterms:modified xsi:type="dcterms:W3CDTF">2026-09-16T06:45:10Z</dcterms:modified>
</cp:coreProperties>
</file>