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68" d="100"/>
          <a:sy n="168" d="100"/>
        </p:scale>
        <p:origin x="6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zemyslaw Starosta" userId="45f988447864b3e6" providerId="LiveId" clId="{F03EAEFD-908B-4458-9CFE-E641CAF539F5}"/>
    <pc:docChg chg="modSld">
      <pc:chgData name="Przemyslaw Starosta" userId="45f988447864b3e6" providerId="LiveId" clId="{F03EAEFD-908B-4458-9CFE-E641CAF539F5}" dt="2026-09-17T07:30:56.972" v="15" actId="20577"/>
      <pc:docMkLst>
        <pc:docMk/>
      </pc:docMkLst>
      <pc:sldChg chg="modSp mod">
        <pc:chgData name="Przemyslaw Starosta" userId="45f988447864b3e6" providerId="LiveId" clId="{F03EAEFD-908B-4458-9CFE-E641CAF539F5}" dt="2026-09-17T07:30:56.972" v="15" actId="20577"/>
        <pc:sldMkLst>
          <pc:docMk/>
          <pc:sldMk cId="0" sldId="261"/>
        </pc:sldMkLst>
        <pc:spChg chg="mod">
          <ac:chgData name="Przemyslaw Starosta" userId="45f988447864b3e6" providerId="LiveId" clId="{F03EAEFD-908B-4458-9CFE-E641CAF539F5}" dt="2026-09-17T07:30:56.972" v="15" actId="20577"/>
          <ac:spMkLst>
            <pc:docMk/>
            <pc:sldMk cId="0" sldId="261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529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· EXPLAIN ANALYZE</a:t>
            </a:r>
            <a:endParaRPr lang="en-US" sz="1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Analiza planu wykonania zapytań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880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Jak </a:t>
            </a:r>
            <a:r>
              <a:rPr lang="en-US" sz="15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czytać</a:t>
            </a: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EXPLAIN </a:t>
            </a:r>
            <a:r>
              <a:rPr lang="en-US" sz="15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5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znajdować</a:t>
            </a: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5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wąskie</a:t>
            </a: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5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gardła</a:t>
            </a:r>
            <a:endParaRPr lang="en-US" sz="1500" dirty="0"/>
          </a:p>
        </p:txBody>
      </p:sp>
      <p:sp>
        <p:nvSpPr>
          <p:cNvPr id="6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429000"/>
            <a:ext cx="10972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wykonania to drzewo operatorów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WPROWADZENIE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Dane pobierają węzły najniższe, kolejne etapy je przetwarzają, a węzeł najwyższy zwraca wynik. Analiza to porównanie estymacji planisty z rzeczywistym wykonaniem.</a:t>
            </a:r>
            <a:endParaRPr lang="en-US" sz="1400" dirty="0"/>
          </a:p>
        </p:txBody>
      </p:sp>
      <p:sp>
        <p:nvSpPr>
          <p:cNvPr id="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965960"/>
            <a:ext cx="2496312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965960"/>
            <a:ext cx="54864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Estymacje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cost, rows i width wyliczone przez planistę</a:t>
            </a:r>
            <a:endParaRPr lang="en-US" sz="1100" dirty="0"/>
          </a:p>
        </p:txBody>
      </p:sp>
      <p:sp>
        <p:nvSpPr>
          <p:cNvPr id="10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9272" y="1965960"/>
            <a:ext cx="2496312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9272" y="1965960"/>
            <a:ext cx="54864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3547872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Wykonanie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47872" y="2468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 time, actual rows oraz loops</a:t>
            </a:r>
            <a:endParaRPr lang="en-US" sz="1100" dirty="0"/>
          </a:p>
        </p:txBody>
      </p:sp>
      <p:sp>
        <p:nvSpPr>
          <p:cNvPr id="1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8464" y="1965960"/>
            <a:ext cx="2496312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8464" y="1965960"/>
            <a:ext cx="54864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6227064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Zasoby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27064" y="2468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Buffers: shared, temp i local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474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Szukamy operacji zużywających najwięcej czasu, odczytów i pamięci — a nie po prostu braku indeksu.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Jak uzyskać plan nadający się do analizy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EXPLAIN ANALYZE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 EXPLAIN pokazuje tylko szacunki optymalizatora.</a:t>
            </a:r>
            <a:endParaRPr lang="en-US" sz="1400" dirty="0"/>
          </a:p>
        </p:txBody>
      </p:sp>
      <p:sp>
        <p:nvSpPr>
          <p:cNvPr id="6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91640"/>
            <a:ext cx="786384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22960" y="1764792"/>
            <a:ext cx="7498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(ANALYZE, BUFFERS, TIMING)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...;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czym pamiętać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ANALYZE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faktycznie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wykonuje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zapytanie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przy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INSERT, UPDATE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DELETE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zachowaj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ostrożność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Opcjonalnie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dodaj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VERBOSE, SETTINGS, WAL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albo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FORMAT JSON.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Dla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typowej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analizy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kluczowe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są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ANALYZE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BUFFERS.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Drzewo planu — kierunek przepływu danych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CZYTANIE PLANU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czytamy od dołu do góry: od źródeł danych aż po węzeł zwracający wynik.</a:t>
            </a:r>
            <a:endParaRPr lang="en-US" sz="1400" dirty="0"/>
          </a:p>
        </p:txBody>
      </p:sp>
      <p:sp>
        <p:nvSpPr>
          <p:cNvPr id="6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91640"/>
            <a:ext cx="786384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22960" y="1764792"/>
            <a:ext cx="7498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Aggregate</a:t>
            </a:r>
          </a:p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Hash Join</a:t>
            </a:r>
          </a:p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-&gt; Seq Scan on orders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Jak przebiega wykonanie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Węzły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najniższe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pozyskują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z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tabel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indeksów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źródeł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zewnętrznych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Węzły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pośrednie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filtrują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łączą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sortują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lub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agregują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przykładzie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Index Scan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customers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buduje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strukturę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Hash, orders jest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skanowana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sekwencyjnie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 Aggregate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liczy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wynik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końcowy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Anatomia pojedynczego węzła planu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WĘZEŁ PLANU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Każdy węzeł zawiera estymacje, dane rzeczywiste oraz warunki i liczniki.</a:t>
            </a:r>
            <a:endParaRPr lang="en-US" sz="1400" dirty="0"/>
          </a:p>
        </p:txBody>
      </p:sp>
      <p:sp>
        <p:nvSpPr>
          <p:cNvPr id="6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91640"/>
            <a:ext cx="786384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22960" y="1764792"/>
            <a:ext cx="7498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Index Scan using </a:t>
            </a:r>
            <a:r>
              <a:rPr lang="en-US" sz="12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idx_orders_user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 orders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(cost=0.42..15.60 rows=5 width=48)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(actual time=0.032..0.054 rows=6 loops=1)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Index Cond: (</a:t>
            </a:r>
            <a:r>
              <a:rPr lang="en-US" sz="12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42)   Buffers: shared hit=4 read=1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Warunki i liczniki pod węzłem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 Cond —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warunek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użyty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wyszukiwania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indeksie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najbardziej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pożądana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forma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jego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wykorzystania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—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warunek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sprawdzany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dopiero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pobraniu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wiersza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Rows Removed by Filter —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wiersze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pobrane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odrzucone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wysoka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wartość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sygnalizuje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brak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właściwego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indeksu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Buffers —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strony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danych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użyte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przez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węzeł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odróżnia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problem I/O od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problemu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CPU.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Estymacje planisty a dane rzeczywiste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COST, ROWS, LOOPS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Kluczowe porównanie: oczekiwania planisty wobec faktycznego wykonania.</a:t>
            </a:r>
            <a:endParaRPr lang="en-US" sz="1400" dirty="0"/>
          </a:p>
        </p:txBody>
      </p:sp>
      <p:sp>
        <p:nvSpPr>
          <p:cNvPr id="6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45920"/>
            <a:ext cx="786384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22960" y="1719072"/>
            <a:ext cx="74980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(cost=0.42..15.60 rows=5 width=48)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(actual time=0.032..0.054 rows=</a:t>
            </a:r>
            <a:r>
              <a:rPr lang="pl-PL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loops=</a:t>
            </a:r>
            <a:r>
              <a:rPr lang="pl-PL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>
              <a:buNone/>
            </a:pPr>
            <a:endParaRPr lang="en-US" sz="1200" dirty="0">
              <a:solidFill>
                <a:srgbClr val="E2E8F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Scan ... (cost=... rows=1) (actual ... rows=250000 loops=</a:t>
            </a:r>
            <a:r>
              <a:rPr lang="pl-PL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Step 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108960"/>
            <a:ext cx="3822192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te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108960"/>
            <a:ext cx="54864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868680" y="32735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Estymacje: cost, rows, width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56616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to koszt startowy i całkowity w jednostkach wewnętrznych, nie milisekundach. rows to szacowana liczba wierszy, a width średnia szerokość wiersza w bajtach.</a:t>
            </a:r>
            <a:endParaRPr lang="en-US" sz="1100" dirty="0"/>
          </a:p>
        </p:txBody>
      </p:sp>
      <p:sp>
        <p:nvSpPr>
          <p:cNvPr id="12" name="Step 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3108960"/>
            <a:ext cx="3822192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te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3108960"/>
            <a:ext cx="54864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910328" y="32735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Wykonanie: actual time, rows, loops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0328" y="356616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Wartości actual dotyczą pojedynczej pętli. Przy loops większym od 1 całkowitą pracę szacuj jako czas × loops oraz rows × loops — w Nested Loop to bywa decydujące.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Buffers — co dokładnie oznaczają odczyty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BUFFERS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Blok PostgreSQL ma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standardowo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8 KB, a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sekcja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BUFFERS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pokazuje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liczbę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bloków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użytych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przez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węzeł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jego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dzieci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hit to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bloki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znalezione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shared_buffers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shared read to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bloki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wczytane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z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dysku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 shared dirtied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written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dotyczą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zapisu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 read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temp written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oznaczają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pliki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tymczasowe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czyli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operację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która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nie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zmieściła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się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pamięci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roboczej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Wartości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są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zwykle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bardziej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wiarygodne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niż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czas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który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zależy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od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obciążenia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cache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systemu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6" name="Note box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26080"/>
            <a:ext cx="786384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26080"/>
            <a:ext cx="54864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Najważniejsza zasada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Wysoki shared read jest alarmem wtedy, gdy mały wynik końcowy wymaga odczytu bardzo wielu bloków. Wtedy szukaj brakującego indeksu, nieoptymalnego warunku, złej kolejności kolumn w indeksie lub problemu z partycjonowaniem.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Wskaźniki słabych punktów zapytania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DIAGNOSTYKA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278187"/>
              </p:ext>
            </p:extLst>
          </p:nvPr>
        </p:nvGraphicFramePr>
        <p:xfrm>
          <a:off x="640080" y="1234440"/>
          <a:ext cx="7863840" cy="2980944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Objaw w planie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 oznacza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Pierwszy krok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Ryzyko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rows ≠ actual rows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Błędna estymacja kardynalności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ANALYZE, STATISTICS, CREATE STATISTICS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Wybór Nested Loop zamiast Hash Join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Rows Removed by Filter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Odczyt wierszy, które i tak zostały odrzucone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Indeks złożony lub częściowy pod warunek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Kosztowne razem z wysokim shared read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external merge / temp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Sort lub Hash nie zmieścił się w pamięci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Ocena work_mem i wielkości wejścia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Globalne zwiększanie work_mem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loops = setki tysięcy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Nested Loop powtarza kosztowny węzeł wewnętrzny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Indeksy po kluczach łączenia, Hash/Merge Join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0,08 </a:t>
                      </a:r>
                      <a:r>
                        <a:rPr lang="en-US" sz="1050" dirty="0" err="1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ms</a:t>
                      </a: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× 500 000 </a:t>
                      </a:r>
                      <a:r>
                        <a:rPr lang="en-US" sz="1050" dirty="0" err="1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pętli</a:t>
                      </a: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≈ 40 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Operatory, które najczęściej widzisz w planie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OPERATORY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Trzy grupy operatorów decydują o kosztach zapytania.</a:t>
            </a:r>
            <a:endParaRPr lang="en-US" sz="1400" dirty="0"/>
          </a:p>
        </p:txBody>
      </p:sp>
      <p:sp>
        <p:nvSpPr>
          <p:cNvPr id="6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783080"/>
            <a:ext cx="78638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783080"/>
            <a:ext cx="54864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868680" y="183794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 / Index / Bitmap Scan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83794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Dostęp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danych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Index Cond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ogranicza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odczyt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Index Only Scan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pomija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stertę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 Bitmap Scan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sprawdza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się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przy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pośredniej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liczbie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wyników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50" dirty="0"/>
          </a:p>
        </p:txBody>
      </p:sp>
      <p:sp>
        <p:nvSpPr>
          <p:cNvPr id="10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78638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54864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868680" y="26151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 / Hash / Merge Join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61518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Łączenie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tabel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Nested Loop jest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ryzykowny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przy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wielu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pętlach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Hash Join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przy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braku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work_mem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 Merge Join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przy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kosztownym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sortowaniu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50" dirty="0"/>
          </a:p>
        </p:txBody>
      </p:sp>
      <p:sp>
        <p:nvSpPr>
          <p:cNvPr id="14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337560"/>
            <a:ext cx="78638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337560"/>
            <a:ext cx="54864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868680" y="33924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Sort, HashAggregate, Gather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39242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Sortowanie, agregacja i równoległość. Sprawdzaj Sort Method, Batches i Disk Usage oraz Workers Planned wobec Workers Launched.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Materialize </a:t>
            </a:r>
            <a:r>
              <a:rPr lang="en-US" sz="1200" dirty="0" err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przyspiesza</a:t>
            </a: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ponowne</a:t>
            </a: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użycie</a:t>
            </a: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wyniku</a:t>
            </a: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ale </a:t>
            </a:r>
            <a:r>
              <a:rPr lang="en-US" sz="1200" dirty="0" err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przy</a:t>
            </a: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dużych</a:t>
            </a: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danych</a:t>
            </a: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zwiększa</a:t>
            </a: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zużycie</a:t>
            </a: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pamięci</a:t>
            </a: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Procedura analizy i lista kontrolna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PODSUMOWANIE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Zacznij od całkowitego Execution Time i porównaj go z czasami najdroższych gałęzi planu:</a:t>
            </a:r>
            <a:endParaRPr lang="en-US" sz="1400" dirty="0"/>
          </a:p>
        </p:txBody>
      </p:sp>
      <p:sp>
        <p:nvSpPr>
          <p:cNvPr id="6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45920"/>
            <a:ext cx="786384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22960" y="1719072"/>
            <a:ext cx="7498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(ANALYZE, BUFFERS)</a:t>
            </a:r>
          </a:p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... ;   -- czytaj plan od dołu do góry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Trzy pytania kontrolne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Czy kardynalność jest dobrze oceniona?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94760" y="30175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rows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actual rows w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tym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samym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rzędzie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wielkości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z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uwzględnieniem</a:t>
            </a:r>
            <a:r>
              <a:rPr lang="en-US" sz="115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loops.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Czy odczyt jest proporcjonalny?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35661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Mały wynik nie powinien wymagać ogromnego shared read ani milionów odrzuconych wierszy.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Czy operacje mieszczą się w pamięci?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94760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Brak temp read/written i external merge Disk; warunki jako Index Cond, nie tylko Filter.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1004</Words>
  <Application>Microsoft Office PowerPoint</Application>
  <PresentationFormat>Pokaz na ekranie (16:9)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Segoe UI</vt:lpstr>
      <vt:lpstr>Office Theme</vt:lpstr>
      <vt:lpstr>Analiza planu wykonania zapytań</vt:lpstr>
      <vt:lpstr>Plan wykonania to drzewo operatorów</vt:lpstr>
      <vt:lpstr>Jak uzyskać plan nadający się do analizy</vt:lpstr>
      <vt:lpstr>Drzewo planu — kierunek przepływu danych</vt:lpstr>
      <vt:lpstr>Anatomia pojedynczego węzła planu</vt:lpstr>
      <vt:lpstr>Estymacje planisty a dane rzeczywiste</vt:lpstr>
      <vt:lpstr>Buffers — co dokładnie oznaczają odczyty</vt:lpstr>
      <vt:lpstr>Wskaźniki słabych punktów zapytania</vt:lpstr>
      <vt:lpstr>Operatory, które najczęściej widzisz w planie</vt:lpstr>
      <vt:lpstr>Procedura analizy i lista kontrolna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Przemysław Starosta</dc:creator>
  <cp:lastModifiedBy>Przemysław Starosta</cp:lastModifiedBy>
  <cp:revision>1</cp:revision>
  <dcterms:created xsi:type="dcterms:W3CDTF">2026-09-14T18:56:47Z</dcterms:created>
  <dcterms:modified xsi:type="dcterms:W3CDTF">2026-09-17T07:33:16Z</dcterms:modified>
</cp:coreProperties>
</file>